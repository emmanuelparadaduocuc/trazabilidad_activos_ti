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</p:sldIdLst>
  <p:sldSz cx="18288000" cy="10287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Mero Thai" panose="020B0604020202020204" charset="-34"/>
      <p:regular r:id="rId10"/>
    </p:embeddedFont>
    <p:embeddedFont>
      <p:font typeface="Mero Thai Bold" panose="020B0604020202020204" charset="-34"/>
      <p:regular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  <p:embeddedFont>
      <p:font typeface="Sunborn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10785176"/>
            <a:chOff x="0" y="0"/>
            <a:chExt cx="4274726" cy="28405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840540"/>
            </a:xfrm>
            <a:custGeom>
              <a:avLst/>
              <a:gdLst/>
              <a:ahLst/>
              <a:cxnLst/>
              <a:rect l="l" t="t" r="r" b="b"/>
              <a:pathLst>
                <a:path w="4274726" h="284054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816214"/>
                  </a:lnTo>
                  <a:cubicBezTo>
                    <a:pt x="4274726" y="2822665"/>
                    <a:pt x="4272163" y="2828853"/>
                    <a:pt x="4267601" y="2833415"/>
                  </a:cubicBezTo>
                  <a:cubicBezTo>
                    <a:pt x="4263039" y="2837977"/>
                    <a:pt x="4256851" y="2840540"/>
                    <a:pt x="4250399" y="2840540"/>
                  </a:cubicBezTo>
                  <a:lnTo>
                    <a:pt x="24327" y="2840540"/>
                  </a:lnTo>
                  <a:cubicBezTo>
                    <a:pt x="10891" y="2840540"/>
                    <a:pt x="0" y="2829649"/>
                    <a:pt x="0" y="281621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2DFF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274726" cy="2916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19265" y="543748"/>
            <a:ext cx="7972519" cy="1277740"/>
            <a:chOff x="0" y="0"/>
            <a:chExt cx="2099758" cy="3365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9758" cy="336524"/>
            </a:xfrm>
            <a:custGeom>
              <a:avLst/>
              <a:gdLst/>
              <a:ahLst/>
              <a:cxnLst/>
              <a:rect l="l" t="t" r="r" b="b"/>
              <a:pathLst>
                <a:path w="2099758" h="336524">
                  <a:moveTo>
                    <a:pt x="49525" y="0"/>
                  </a:moveTo>
                  <a:lnTo>
                    <a:pt x="2050233" y="0"/>
                  </a:lnTo>
                  <a:cubicBezTo>
                    <a:pt x="2077585" y="0"/>
                    <a:pt x="2099758" y="22173"/>
                    <a:pt x="2099758" y="49525"/>
                  </a:cubicBezTo>
                  <a:lnTo>
                    <a:pt x="2099758" y="286999"/>
                  </a:lnTo>
                  <a:cubicBezTo>
                    <a:pt x="2099758" y="300134"/>
                    <a:pt x="2094540" y="312731"/>
                    <a:pt x="2085253" y="322019"/>
                  </a:cubicBezTo>
                  <a:cubicBezTo>
                    <a:pt x="2075965" y="331306"/>
                    <a:pt x="2063368" y="336524"/>
                    <a:pt x="2050233" y="336524"/>
                  </a:cubicBezTo>
                  <a:lnTo>
                    <a:pt x="49525" y="336524"/>
                  </a:lnTo>
                  <a:cubicBezTo>
                    <a:pt x="22173" y="336524"/>
                    <a:pt x="0" y="314351"/>
                    <a:pt x="0" y="286999"/>
                  </a:cubicBezTo>
                  <a:lnTo>
                    <a:pt x="0" y="49525"/>
                  </a:lnTo>
                  <a:cubicBezTo>
                    <a:pt x="0" y="36390"/>
                    <a:pt x="5218" y="23793"/>
                    <a:pt x="14505" y="14505"/>
                  </a:cubicBezTo>
                  <a:cubicBezTo>
                    <a:pt x="23793" y="5218"/>
                    <a:pt x="36390" y="0"/>
                    <a:pt x="49525" y="0"/>
                  </a:cubicBezTo>
                  <a:close/>
                </a:path>
              </a:pathLst>
            </a:custGeom>
            <a:solidFill>
              <a:srgbClr val="2C537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42875"/>
              <a:ext cx="2099758" cy="479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 lang="en-US" sz="3399" dirty="0">
                <a:solidFill>
                  <a:srgbClr val="FFFFFF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47959" y="7837275"/>
            <a:ext cx="20076135" cy="1277740"/>
            <a:chOff x="0" y="0"/>
            <a:chExt cx="5287542" cy="3365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87542" cy="336524"/>
            </a:xfrm>
            <a:custGeom>
              <a:avLst/>
              <a:gdLst/>
              <a:ahLst/>
              <a:cxnLst/>
              <a:rect l="l" t="t" r="r" b="b"/>
              <a:pathLst>
                <a:path w="5287542" h="336524">
                  <a:moveTo>
                    <a:pt x="19667" y="0"/>
                  </a:moveTo>
                  <a:lnTo>
                    <a:pt x="5267875" y="0"/>
                  </a:lnTo>
                  <a:cubicBezTo>
                    <a:pt x="5273091" y="0"/>
                    <a:pt x="5278093" y="2072"/>
                    <a:pt x="5281781" y="5760"/>
                  </a:cubicBezTo>
                  <a:cubicBezTo>
                    <a:pt x="5285470" y="9449"/>
                    <a:pt x="5287542" y="14451"/>
                    <a:pt x="5287542" y="19667"/>
                  </a:cubicBezTo>
                  <a:lnTo>
                    <a:pt x="5287542" y="316857"/>
                  </a:lnTo>
                  <a:cubicBezTo>
                    <a:pt x="5287542" y="322073"/>
                    <a:pt x="5285470" y="327076"/>
                    <a:pt x="5281781" y="330764"/>
                  </a:cubicBezTo>
                  <a:cubicBezTo>
                    <a:pt x="5278093" y="334452"/>
                    <a:pt x="5273091" y="336524"/>
                    <a:pt x="5267875" y="336524"/>
                  </a:cubicBezTo>
                  <a:lnTo>
                    <a:pt x="19667" y="336524"/>
                  </a:lnTo>
                  <a:cubicBezTo>
                    <a:pt x="14451" y="336524"/>
                    <a:pt x="9449" y="334452"/>
                    <a:pt x="5760" y="330764"/>
                  </a:cubicBezTo>
                  <a:cubicBezTo>
                    <a:pt x="2072" y="327076"/>
                    <a:pt x="0" y="322073"/>
                    <a:pt x="0" y="316857"/>
                  </a:cubicBezTo>
                  <a:lnTo>
                    <a:pt x="0" y="19667"/>
                  </a:lnTo>
                  <a:cubicBezTo>
                    <a:pt x="0" y="14451"/>
                    <a:pt x="2072" y="9449"/>
                    <a:pt x="5760" y="5760"/>
                  </a:cubicBezTo>
                  <a:cubicBezTo>
                    <a:pt x="9449" y="2072"/>
                    <a:pt x="14451" y="0"/>
                    <a:pt x="19667" y="0"/>
                  </a:cubicBezTo>
                  <a:close/>
                </a:path>
              </a:pathLst>
            </a:custGeom>
            <a:solidFill>
              <a:srgbClr val="2C537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5287542" cy="479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8242213"/>
            <a:ext cx="4284244" cy="783966"/>
            <a:chOff x="0" y="-85725"/>
            <a:chExt cx="5712325" cy="104528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5712325" cy="484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dirty="0">
                  <a:solidFill>
                    <a:schemeClr val="bg1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Emmanuel Parada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74728"/>
              <a:ext cx="5712325" cy="484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endParaRPr lang="en-US" sz="2199" dirty="0">
                <a:solidFill>
                  <a:srgbClr val="FFFFFF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47986" y="7913270"/>
            <a:ext cx="4329614" cy="783966"/>
            <a:chOff x="0" y="-85725"/>
            <a:chExt cx="5772818" cy="104528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85725"/>
              <a:ext cx="5712325" cy="484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b="1" dirty="0" err="1">
                  <a:solidFill>
                    <a:schemeClr val="bg1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Profesor</a:t>
              </a:r>
              <a:endParaRPr lang="en-US" sz="2199" b="1" dirty="0">
                <a:solidFill>
                  <a:schemeClr val="bg1"/>
                </a:solidFill>
                <a:latin typeface="Mero Thai Bold"/>
                <a:ea typeface="Mero Thai Bold"/>
                <a:cs typeface="Mero Thai Bold"/>
                <a:sym typeface="Mero Thai Bold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495" y="474728"/>
              <a:ext cx="5712323" cy="484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FFFFFF"/>
                  </a:solidFill>
                  <a:latin typeface="Mero Thai"/>
                  <a:ea typeface="Mero Thai"/>
                  <a:cs typeface="Mero Thai"/>
                  <a:sym typeface="Mero Thai"/>
                </a:rPr>
                <a:t>Juan Alberto </a:t>
              </a:r>
              <a:r>
                <a:rPr lang="en-US" sz="2199" b="1" dirty="0" err="1">
                  <a:solidFill>
                    <a:srgbClr val="FFFFFF"/>
                  </a:solidFill>
                  <a:latin typeface="Mero Thai"/>
                  <a:ea typeface="Mero Thai"/>
                  <a:cs typeface="Mero Thai"/>
                  <a:sym typeface="Mero Thai"/>
                </a:rPr>
                <a:t>Gana</a:t>
              </a:r>
              <a:endParaRPr lang="en-US" sz="2199" b="1" dirty="0">
                <a:solidFill>
                  <a:srgbClr val="FFFFFF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95471" y="8242213"/>
            <a:ext cx="4284244" cy="783966"/>
            <a:chOff x="0" y="-85725"/>
            <a:chExt cx="5712325" cy="104528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5712325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s-CL" sz="2400" b="1" i="0" dirty="0">
                  <a:solidFill>
                    <a:srgbClr val="FFFFFF"/>
                  </a:solidFill>
                  <a:effectLst/>
                  <a:latin typeface="Open Sans" panose="020F0502020204030204" pitchFamily="34" charset="0"/>
                </a:rPr>
                <a:t>CAPSTONE_007V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74728"/>
              <a:ext cx="5712325" cy="484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endParaRPr lang="en-US" sz="2199" dirty="0">
                <a:solidFill>
                  <a:srgbClr val="FFFFFF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 rot="858640">
            <a:off x="-108695" y="5237677"/>
            <a:ext cx="1941095" cy="1941095"/>
          </a:xfrm>
          <a:custGeom>
            <a:avLst/>
            <a:gdLst/>
            <a:ahLst/>
            <a:cxnLst/>
            <a:rect l="l" t="t" r="r" b="b"/>
            <a:pathLst>
              <a:path w="1941095" h="1941095">
                <a:moveTo>
                  <a:pt x="0" y="0"/>
                </a:moveTo>
                <a:lnTo>
                  <a:pt x="1941096" y="0"/>
                </a:lnTo>
                <a:lnTo>
                  <a:pt x="1941096" y="1941095"/>
                </a:lnTo>
                <a:lnTo>
                  <a:pt x="0" y="1941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1054662">
            <a:off x="16504318" y="516109"/>
            <a:ext cx="1827080" cy="2159031"/>
          </a:xfrm>
          <a:custGeom>
            <a:avLst/>
            <a:gdLst/>
            <a:ahLst/>
            <a:cxnLst/>
            <a:rect l="l" t="t" r="r" b="b"/>
            <a:pathLst>
              <a:path w="1827080" h="2159031">
                <a:moveTo>
                  <a:pt x="0" y="0"/>
                </a:moveTo>
                <a:lnTo>
                  <a:pt x="1827080" y="0"/>
                </a:lnTo>
                <a:lnTo>
                  <a:pt x="1827080" y="2159031"/>
                </a:lnTo>
                <a:lnTo>
                  <a:pt x="0" y="2159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783140">
            <a:off x="15563309" y="5390777"/>
            <a:ext cx="3433584" cy="1922807"/>
          </a:xfrm>
          <a:custGeom>
            <a:avLst/>
            <a:gdLst/>
            <a:ahLst/>
            <a:cxnLst/>
            <a:rect l="l" t="t" r="r" b="b"/>
            <a:pathLst>
              <a:path w="3433584" h="1922807">
                <a:moveTo>
                  <a:pt x="0" y="0"/>
                </a:moveTo>
                <a:lnTo>
                  <a:pt x="3433584" y="0"/>
                </a:lnTo>
                <a:lnTo>
                  <a:pt x="3433584" y="1922808"/>
                </a:lnTo>
                <a:lnTo>
                  <a:pt x="0" y="19228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10432478">
            <a:off x="-51122" y="677418"/>
            <a:ext cx="1825951" cy="2553778"/>
          </a:xfrm>
          <a:custGeom>
            <a:avLst/>
            <a:gdLst/>
            <a:ahLst/>
            <a:cxnLst/>
            <a:rect l="l" t="t" r="r" b="b"/>
            <a:pathLst>
              <a:path w="1825951" h="2553778">
                <a:moveTo>
                  <a:pt x="0" y="0"/>
                </a:moveTo>
                <a:lnTo>
                  <a:pt x="1825951" y="0"/>
                </a:lnTo>
                <a:lnTo>
                  <a:pt x="1825951" y="2553778"/>
                </a:lnTo>
                <a:lnTo>
                  <a:pt x="0" y="2553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372491" y="2473678"/>
            <a:ext cx="13543017" cy="358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9"/>
              </a:lnSpc>
            </a:pPr>
            <a:r>
              <a:rPr lang="es-MX" sz="4000" dirty="0">
                <a:latin typeface="Arial Black" panose="020B0A04020102020204" pitchFamily="34" charset="0"/>
              </a:rPr>
              <a:t>Sistema Web de Trazabilidad y Control del Ciclo de Vida de Activos TI</a:t>
            </a:r>
            <a:endParaRPr lang="en-US" sz="4800" dirty="0">
              <a:solidFill>
                <a:srgbClr val="2C5371"/>
              </a:solidFill>
              <a:latin typeface="Arial Black" panose="020B0A04020102020204" pitchFamily="34" charset="0"/>
              <a:ea typeface="Sunborn"/>
              <a:cs typeface="Sunborn"/>
              <a:sym typeface="Sunbor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44771">
            <a:off x="1433475" y="4032540"/>
            <a:ext cx="5041470" cy="3680273"/>
          </a:xfrm>
          <a:custGeom>
            <a:avLst/>
            <a:gdLst/>
            <a:ahLst/>
            <a:cxnLst/>
            <a:rect l="l" t="t" r="r" b="b"/>
            <a:pathLst>
              <a:path w="5041470" h="3680273">
                <a:moveTo>
                  <a:pt x="0" y="0"/>
                </a:moveTo>
                <a:lnTo>
                  <a:pt x="5041470" y="0"/>
                </a:lnTo>
                <a:lnTo>
                  <a:pt x="5041470" y="3680273"/>
                </a:lnTo>
                <a:lnTo>
                  <a:pt x="0" y="3680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930967"/>
            <a:ext cx="16230600" cy="2200517"/>
            <a:chOff x="0" y="-133350"/>
            <a:chExt cx="21640800" cy="2934022"/>
          </a:xfrm>
        </p:grpSpPr>
        <p:sp>
          <p:nvSpPr>
            <p:cNvPr id="5" name="TextBox 5"/>
            <p:cNvSpPr txBox="1"/>
            <p:nvPr/>
          </p:nvSpPr>
          <p:spPr>
            <a:xfrm>
              <a:off x="0" y="-133350"/>
              <a:ext cx="21640800" cy="1437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45"/>
                </a:lnSpc>
              </a:pPr>
              <a:endParaRPr lang="en-US" sz="6889" dirty="0">
                <a:solidFill>
                  <a:srgbClr val="34495E"/>
                </a:solidFill>
                <a:latin typeface="Sunborn"/>
                <a:ea typeface="Sunborn"/>
                <a:cs typeface="Sunborn"/>
                <a:sym typeface="Sunborn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56259"/>
              <a:ext cx="21640800" cy="1444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7"/>
                </a:lnSpc>
              </a:pPr>
              <a:r>
                <a:rPr lang="es-MX" sz="6600" dirty="0"/>
                <a:t>Problemática Actual en la Gestión de TI</a:t>
              </a:r>
              <a:endParaRPr lang="en-US" sz="6433" dirty="0">
                <a:solidFill>
                  <a:srgbClr val="5A99D1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9958AB00-D638-5188-8A19-7539647F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997293"/>
            <a:ext cx="9182100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Puntos clave:</a:t>
            </a:r>
            <a:endParaRPr kumimoji="0" lang="es-CL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Registros informales: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Gran parte de las empresas gestionan su parque informático mediante planillas manuales o herramientas desactualizadas.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Pérdida de trazabilidad: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Dificultad para rastrear a qué colaborador se le asignó un equipo, su estado físico o la ubicación actual.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Costos evitables: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Falta de seguimiento en mantenimientos preventivos, vencimiento no notificado de garantías y extravío de hardware/periféricos.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43640" y="2127101"/>
            <a:ext cx="10125724" cy="7131199"/>
            <a:chOff x="0" y="0"/>
            <a:chExt cx="1568740" cy="1104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68740" cy="1104809"/>
            </a:xfrm>
            <a:custGeom>
              <a:avLst/>
              <a:gdLst/>
              <a:ahLst/>
              <a:cxnLst/>
              <a:rect l="l" t="t" r="r" b="b"/>
              <a:pathLst>
                <a:path w="1568740" h="1104809">
                  <a:moveTo>
                    <a:pt x="17585" y="0"/>
                  </a:moveTo>
                  <a:lnTo>
                    <a:pt x="1551154" y="0"/>
                  </a:lnTo>
                  <a:cubicBezTo>
                    <a:pt x="1555818" y="0"/>
                    <a:pt x="1560291" y="1853"/>
                    <a:pt x="1563589" y="5151"/>
                  </a:cubicBezTo>
                  <a:cubicBezTo>
                    <a:pt x="1566887" y="8449"/>
                    <a:pt x="1568740" y="12921"/>
                    <a:pt x="1568740" y="17585"/>
                  </a:cubicBezTo>
                  <a:lnTo>
                    <a:pt x="1568740" y="1087224"/>
                  </a:lnTo>
                  <a:cubicBezTo>
                    <a:pt x="1568740" y="1091888"/>
                    <a:pt x="1566887" y="1096361"/>
                    <a:pt x="1563589" y="1099659"/>
                  </a:cubicBezTo>
                  <a:cubicBezTo>
                    <a:pt x="1560291" y="1102957"/>
                    <a:pt x="1555818" y="1104809"/>
                    <a:pt x="1551154" y="1104809"/>
                  </a:cubicBezTo>
                  <a:lnTo>
                    <a:pt x="17585" y="1104809"/>
                  </a:lnTo>
                  <a:cubicBezTo>
                    <a:pt x="12921" y="1104809"/>
                    <a:pt x="8449" y="1102957"/>
                    <a:pt x="5151" y="1099659"/>
                  </a:cubicBezTo>
                  <a:cubicBezTo>
                    <a:pt x="1853" y="1096361"/>
                    <a:pt x="0" y="1091888"/>
                    <a:pt x="0" y="1087224"/>
                  </a:cubicBezTo>
                  <a:lnTo>
                    <a:pt x="0" y="17585"/>
                  </a:lnTo>
                  <a:cubicBezTo>
                    <a:pt x="0" y="12921"/>
                    <a:pt x="1853" y="8449"/>
                    <a:pt x="5151" y="5151"/>
                  </a:cubicBezTo>
                  <a:cubicBezTo>
                    <a:pt x="8449" y="1853"/>
                    <a:pt x="12921" y="0"/>
                    <a:pt x="17585" y="0"/>
                  </a:cubicBezTo>
                  <a:close/>
                </a:path>
              </a:pathLst>
            </a:custGeom>
            <a:blipFill>
              <a:blip r:embed="rId2"/>
              <a:stretch>
                <a:fillRect l="-2852" r="-285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154402" y="928688"/>
            <a:ext cx="6920202" cy="2114722"/>
            <a:chOff x="0" y="-133349"/>
            <a:chExt cx="9226936" cy="2819630"/>
          </a:xfrm>
        </p:grpSpPr>
        <p:sp>
          <p:nvSpPr>
            <p:cNvPr id="6" name="TextBox 6"/>
            <p:cNvSpPr txBox="1"/>
            <p:nvPr/>
          </p:nvSpPr>
          <p:spPr>
            <a:xfrm>
              <a:off x="0" y="-133349"/>
              <a:ext cx="9226936" cy="1544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45"/>
                </a:lnSpc>
              </a:pPr>
              <a:r>
                <a:rPr lang="es-CL" sz="7200" dirty="0"/>
                <a:t>Propuesta</a:t>
              </a:r>
              <a:endParaRPr lang="en-US" sz="6889" dirty="0">
                <a:solidFill>
                  <a:srgbClr val="34495E"/>
                </a:solidFill>
                <a:latin typeface="Sunborn"/>
                <a:ea typeface="Sunborn"/>
                <a:cs typeface="Sunborn"/>
                <a:sym typeface="Sunborn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56258"/>
              <a:ext cx="8812797" cy="13300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7"/>
                </a:lnSpc>
              </a:pPr>
              <a:r>
                <a:rPr lang="es-CL" sz="4000" dirty="0"/>
                <a:t>Sistema Web de Trazabilidad TI</a:t>
              </a:r>
              <a:endParaRPr lang="en-US" sz="4000" dirty="0">
                <a:solidFill>
                  <a:srgbClr val="5A99D1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3433584" cy="1922807"/>
          </a:xfrm>
          <a:custGeom>
            <a:avLst/>
            <a:gdLst/>
            <a:ahLst/>
            <a:cxnLst/>
            <a:rect l="l" t="t" r="r" b="b"/>
            <a:pathLst>
              <a:path w="3433584" h="1922807">
                <a:moveTo>
                  <a:pt x="0" y="0"/>
                </a:moveTo>
                <a:lnTo>
                  <a:pt x="3433584" y="0"/>
                </a:lnTo>
                <a:lnTo>
                  <a:pt x="3433584" y="1922807"/>
                </a:lnTo>
                <a:lnTo>
                  <a:pt x="0" y="1922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0D244DC-E221-F0C5-F3CB-58BA1BE3F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3223504"/>
            <a:ext cx="8382000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Puntos clave:</a:t>
            </a:r>
            <a:endParaRPr kumimoji="0" lang="es-CL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Plataforma centralizada: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Una solución web modular para administrar el ciclo de vida completo del hardware y periféricos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Historial por colaborador: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Registro transparente de entregas y devoluciones con trazabilidad histórica.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Control de estados y alertas: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Notificaciones automáticas ante mantenimientos programados o vencimiento de garantías/licencias.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Historial por equipo: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Registro</a:t>
            </a:r>
            <a:r>
              <a:rPr kumimoji="0" lang="es-CL" altLang="es-CL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único de equipo para saber datos clave del equipo como seriales . Trazabilidad , componentes y reparaciones.</a:t>
            </a:r>
            <a:endParaRPr kumimoji="0" lang="es-CL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5587" y="3479689"/>
            <a:ext cx="3949184" cy="5690940"/>
            <a:chOff x="0" y="0"/>
            <a:chExt cx="1224419" cy="19175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4419" cy="1917510"/>
            </a:xfrm>
            <a:custGeom>
              <a:avLst/>
              <a:gdLst/>
              <a:ahLst/>
              <a:cxnLst/>
              <a:rect l="l" t="t" r="r" b="b"/>
              <a:pathLst>
                <a:path w="1224419" h="1917510">
                  <a:moveTo>
                    <a:pt x="84930" y="0"/>
                  </a:moveTo>
                  <a:lnTo>
                    <a:pt x="1139489" y="0"/>
                  </a:lnTo>
                  <a:cubicBezTo>
                    <a:pt x="1162014" y="0"/>
                    <a:pt x="1183616" y="8948"/>
                    <a:pt x="1199544" y="24875"/>
                  </a:cubicBezTo>
                  <a:cubicBezTo>
                    <a:pt x="1215471" y="40803"/>
                    <a:pt x="1224419" y="62405"/>
                    <a:pt x="1224419" y="84930"/>
                  </a:cubicBezTo>
                  <a:lnTo>
                    <a:pt x="1224419" y="1832580"/>
                  </a:lnTo>
                  <a:cubicBezTo>
                    <a:pt x="1224419" y="1855105"/>
                    <a:pt x="1215471" y="1876707"/>
                    <a:pt x="1199544" y="1892634"/>
                  </a:cubicBezTo>
                  <a:cubicBezTo>
                    <a:pt x="1183616" y="1908562"/>
                    <a:pt x="1162014" y="1917510"/>
                    <a:pt x="1139489" y="1917510"/>
                  </a:cubicBezTo>
                  <a:lnTo>
                    <a:pt x="84930" y="1917510"/>
                  </a:lnTo>
                  <a:cubicBezTo>
                    <a:pt x="62405" y="1917510"/>
                    <a:pt x="40803" y="1908562"/>
                    <a:pt x="24875" y="1892634"/>
                  </a:cubicBezTo>
                  <a:cubicBezTo>
                    <a:pt x="8948" y="1876707"/>
                    <a:pt x="0" y="1855105"/>
                    <a:pt x="0" y="1832580"/>
                  </a:cubicBezTo>
                  <a:lnTo>
                    <a:pt x="0" y="84930"/>
                  </a:lnTo>
                  <a:cubicBezTo>
                    <a:pt x="0" y="62405"/>
                    <a:pt x="8948" y="40803"/>
                    <a:pt x="24875" y="24875"/>
                  </a:cubicBezTo>
                  <a:cubicBezTo>
                    <a:pt x="40803" y="8948"/>
                    <a:pt x="62405" y="0"/>
                    <a:pt x="84930" y="0"/>
                  </a:cubicBezTo>
                  <a:close/>
                </a:path>
              </a:pathLst>
            </a:custGeom>
            <a:solidFill>
              <a:srgbClr val="2C537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224419" cy="2060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40134" y="3671079"/>
            <a:ext cx="1420089" cy="14200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9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34495E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01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74662" y="2881828"/>
            <a:ext cx="4648966" cy="78230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28700" y="2045943"/>
            <a:ext cx="16230600" cy="108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7"/>
              </a:lnSpc>
            </a:pPr>
            <a:r>
              <a:rPr lang="es-CL" sz="6600" dirty="0"/>
              <a:t>Producto Mínimo Viable</a:t>
            </a:r>
            <a:endParaRPr lang="en-US" sz="6433" dirty="0">
              <a:solidFill>
                <a:srgbClr val="5A99D1"/>
              </a:solidFill>
              <a:latin typeface="Mero Thai"/>
              <a:ea typeface="Mero Thai"/>
              <a:cs typeface="Mero Thai"/>
              <a:sym typeface="Mero Thai"/>
            </a:endParaRPr>
          </a:p>
        </p:txBody>
      </p:sp>
      <p:sp>
        <p:nvSpPr>
          <p:cNvPr id="32" name="TextBox 23">
            <a:extLst>
              <a:ext uri="{FF2B5EF4-FFF2-40B4-BE49-F238E27FC236}">
                <a16:creationId xmlns:a16="http://schemas.microsoft.com/office/drawing/2014/main" id="{51694852-2D83-B8EB-53D9-F841CD7B8D4E}"/>
              </a:ext>
            </a:extLst>
          </p:cNvPr>
          <p:cNvSpPr txBox="1"/>
          <p:nvPr/>
        </p:nvSpPr>
        <p:spPr>
          <a:xfrm>
            <a:off x="825477" y="5895533"/>
            <a:ext cx="324940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2800" b="1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Módulo</a:t>
            </a:r>
            <a:r>
              <a:rPr lang="en-US" sz="2800" b="1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 </a:t>
            </a:r>
            <a:r>
              <a:rPr lang="en-US" sz="2800" b="1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Inventario</a:t>
            </a:r>
            <a:r>
              <a:rPr lang="en-US" sz="2800" b="1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: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Registro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completo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 de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activos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 (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número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 de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serie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,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marca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,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modelo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, </a:t>
            </a:r>
            <a:r>
              <a:rPr lang="en-US" sz="2800" dirty="0" err="1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estado</a:t>
            </a:r>
            <a:r>
              <a:rPr lang="en-US" sz="2800" dirty="0">
                <a:solidFill>
                  <a:srgbClr val="F2F9FF"/>
                </a:solidFill>
                <a:latin typeface="+mj-lt"/>
                <a:ea typeface="Mero Thai"/>
                <a:cs typeface="Arial" panose="020B0604020202020204" pitchFamily="34" charset="0"/>
                <a:sym typeface="Mero Thai"/>
              </a:rPr>
              <a:t>)</a:t>
            </a: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B91C80FE-437F-62EA-09C6-CCDF30EA9E8B}"/>
              </a:ext>
            </a:extLst>
          </p:cNvPr>
          <p:cNvGrpSpPr/>
          <p:nvPr/>
        </p:nvGrpSpPr>
        <p:grpSpPr>
          <a:xfrm>
            <a:off x="4755327" y="3479689"/>
            <a:ext cx="3949184" cy="5690940"/>
            <a:chOff x="0" y="0"/>
            <a:chExt cx="1224419" cy="1917510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CCCA9173-A359-FB55-AB24-1E48000D008B}"/>
                </a:ext>
              </a:extLst>
            </p:cNvPr>
            <p:cNvSpPr/>
            <p:nvPr/>
          </p:nvSpPr>
          <p:spPr>
            <a:xfrm>
              <a:off x="0" y="0"/>
              <a:ext cx="1224419" cy="1917510"/>
            </a:xfrm>
            <a:custGeom>
              <a:avLst/>
              <a:gdLst/>
              <a:ahLst/>
              <a:cxnLst/>
              <a:rect l="l" t="t" r="r" b="b"/>
              <a:pathLst>
                <a:path w="1224419" h="1917510">
                  <a:moveTo>
                    <a:pt x="84930" y="0"/>
                  </a:moveTo>
                  <a:lnTo>
                    <a:pt x="1139489" y="0"/>
                  </a:lnTo>
                  <a:cubicBezTo>
                    <a:pt x="1162014" y="0"/>
                    <a:pt x="1183616" y="8948"/>
                    <a:pt x="1199544" y="24875"/>
                  </a:cubicBezTo>
                  <a:cubicBezTo>
                    <a:pt x="1215471" y="40803"/>
                    <a:pt x="1224419" y="62405"/>
                    <a:pt x="1224419" y="84930"/>
                  </a:cubicBezTo>
                  <a:lnTo>
                    <a:pt x="1224419" y="1832580"/>
                  </a:lnTo>
                  <a:cubicBezTo>
                    <a:pt x="1224419" y="1855105"/>
                    <a:pt x="1215471" y="1876707"/>
                    <a:pt x="1199544" y="1892634"/>
                  </a:cubicBezTo>
                  <a:cubicBezTo>
                    <a:pt x="1183616" y="1908562"/>
                    <a:pt x="1162014" y="1917510"/>
                    <a:pt x="1139489" y="1917510"/>
                  </a:cubicBezTo>
                  <a:lnTo>
                    <a:pt x="84930" y="1917510"/>
                  </a:lnTo>
                  <a:cubicBezTo>
                    <a:pt x="62405" y="1917510"/>
                    <a:pt x="40803" y="1908562"/>
                    <a:pt x="24875" y="1892634"/>
                  </a:cubicBezTo>
                  <a:cubicBezTo>
                    <a:pt x="8948" y="1876707"/>
                    <a:pt x="0" y="1855105"/>
                    <a:pt x="0" y="1832580"/>
                  </a:cubicBezTo>
                  <a:lnTo>
                    <a:pt x="0" y="84930"/>
                  </a:lnTo>
                  <a:cubicBezTo>
                    <a:pt x="0" y="62405"/>
                    <a:pt x="8948" y="40803"/>
                    <a:pt x="24875" y="24875"/>
                  </a:cubicBezTo>
                  <a:cubicBezTo>
                    <a:pt x="40803" y="8948"/>
                    <a:pt x="62405" y="0"/>
                    <a:pt x="84930" y="0"/>
                  </a:cubicBezTo>
                  <a:close/>
                </a:path>
              </a:pathLst>
            </a:custGeom>
            <a:solidFill>
              <a:srgbClr val="2C5371"/>
            </a:solidFill>
          </p:spPr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7421C755-4BBC-4B47-FDFD-518982F36AD9}"/>
                </a:ext>
              </a:extLst>
            </p:cNvPr>
            <p:cNvSpPr txBox="1"/>
            <p:nvPr/>
          </p:nvSpPr>
          <p:spPr>
            <a:xfrm>
              <a:off x="0" y="-142875"/>
              <a:ext cx="1224419" cy="2060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63006" y="3747062"/>
            <a:ext cx="1420089" cy="142008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9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 dirty="0">
                  <a:solidFill>
                    <a:srgbClr val="34495E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02</a:t>
              </a:r>
            </a:p>
          </p:txBody>
        </p:sp>
      </p:grpSp>
      <p:pic>
        <p:nvPicPr>
          <p:cNvPr id="37" name="Imagen 36">
            <a:extLst>
              <a:ext uri="{FF2B5EF4-FFF2-40B4-BE49-F238E27FC236}">
                <a16:creationId xmlns:a16="http://schemas.microsoft.com/office/drawing/2014/main" id="{1727365C-ECE1-B678-52C9-4F4125BF0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141" y="3482568"/>
            <a:ext cx="3950550" cy="5688061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10338371" y="3747062"/>
            <a:ext cx="1420089" cy="142008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9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34495E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03</a:t>
              </a:r>
            </a:p>
          </p:txBody>
        </p:sp>
      </p:grpSp>
      <p:pic>
        <p:nvPicPr>
          <p:cNvPr id="38" name="Imagen 37">
            <a:extLst>
              <a:ext uri="{FF2B5EF4-FFF2-40B4-BE49-F238E27FC236}">
                <a16:creationId xmlns:a16="http://schemas.microsoft.com/office/drawing/2014/main" id="{C485C6EB-BACE-462F-A1C7-9708EDECC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3458" y="3533662"/>
            <a:ext cx="3950550" cy="5688061"/>
          </a:xfrm>
          <a:prstGeom prst="rect">
            <a:avLst/>
          </a:prstGeom>
        </p:spPr>
      </p:pic>
      <p:grpSp>
        <p:nvGrpSpPr>
          <p:cNvPr id="39" name="Group 17">
            <a:extLst>
              <a:ext uri="{FF2B5EF4-FFF2-40B4-BE49-F238E27FC236}">
                <a16:creationId xmlns:a16="http://schemas.microsoft.com/office/drawing/2014/main" id="{46DD8592-5996-77C2-860B-B42DFE1DBD33}"/>
              </a:ext>
            </a:extLst>
          </p:cNvPr>
          <p:cNvGrpSpPr/>
          <p:nvPr/>
        </p:nvGrpSpPr>
        <p:grpSpPr>
          <a:xfrm>
            <a:off x="14658688" y="3791902"/>
            <a:ext cx="1420089" cy="1420089"/>
            <a:chOff x="0" y="0"/>
            <a:chExt cx="812800" cy="812800"/>
          </a:xfrm>
        </p:grpSpPr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BDEC73E4-5793-ADC7-5C1D-C05C65B0E9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9FF"/>
            </a:solidFill>
          </p:spPr>
        </p:sp>
        <p:sp>
          <p:nvSpPr>
            <p:cNvPr id="41" name="TextBox 19">
              <a:extLst>
                <a:ext uri="{FF2B5EF4-FFF2-40B4-BE49-F238E27FC236}">
                  <a16:creationId xmlns:a16="http://schemas.microsoft.com/office/drawing/2014/main" id="{073D7365-047C-51A2-436C-785DAE0E6665}"/>
                </a:ext>
              </a:extLst>
            </p:cNvPr>
            <p:cNvSpPr txBox="1"/>
            <p:nvPr/>
          </p:nvSpPr>
          <p:spPr>
            <a:xfrm>
              <a:off x="76200" y="-95250"/>
              <a:ext cx="6604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 dirty="0">
                  <a:solidFill>
                    <a:srgbClr val="34495E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04</a:t>
              </a:r>
            </a:p>
          </p:txBody>
        </p:sp>
      </p:grp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0B31045-4673-CEC2-949F-13D936BD9A41}"/>
              </a:ext>
            </a:extLst>
          </p:cNvPr>
          <p:cNvSpPr txBox="1"/>
          <p:nvPr/>
        </p:nvSpPr>
        <p:spPr>
          <a:xfrm>
            <a:off x="2839787" y="1061296"/>
            <a:ext cx="13167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dirty="0"/>
              <a:t>Alcance y Funcionalidades del PMV</a:t>
            </a:r>
            <a:endParaRPr lang="es-CL" sz="3600" b="1" dirty="0"/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A0F3AA08-F510-6386-051F-FC00EEED77EA}"/>
              </a:ext>
            </a:extLst>
          </p:cNvPr>
          <p:cNvSpPr txBox="1"/>
          <p:nvPr/>
        </p:nvSpPr>
        <p:spPr>
          <a:xfrm>
            <a:off x="5073463" y="5869902"/>
            <a:ext cx="3249402" cy="179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s-MX" sz="2800" b="1" dirty="0">
                <a:solidFill>
                  <a:schemeClr val="bg1"/>
                </a:solidFill>
              </a:rPr>
              <a:t>Módulo Asignación:</a:t>
            </a:r>
            <a:r>
              <a:rPr lang="es-MX" sz="2800" dirty="0">
                <a:solidFill>
                  <a:schemeClr val="bg1"/>
                </a:solidFill>
              </a:rPr>
              <a:t> Gestión de entregas asociadas a </a:t>
            </a:r>
            <a:r>
              <a:rPr lang="es-MX" sz="2800" dirty="0" err="1">
                <a:solidFill>
                  <a:schemeClr val="bg1"/>
                </a:solidFill>
              </a:rPr>
              <a:t>rut</a:t>
            </a:r>
            <a:r>
              <a:rPr lang="es-MX" sz="2800" dirty="0">
                <a:solidFill>
                  <a:schemeClr val="bg1"/>
                </a:solidFill>
              </a:rPr>
              <a:t>/nombre de colaboradores</a:t>
            </a:r>
            <a:endParaRPr lang="en-US" sz="2800" dirty="0">
              <a:solidFill>
                <a:schemeClr val="bg1"/>
              </a:solidFill>
              <a:latin typeface="Mero Thai"/>
              <a:ea typeface="Mero Thai"/>
              <a:cs typeface="Mero Thai"/>
              <a:sym typeface="Mero Thai"/>
            </a:endParaRPr>
          </a:p>
        </p:txBody>
      </p:sp>
      <p:sp>
        <p:nvSpPr>
          <p:cNvPr id="45" name="TextBox 23">
            <a:extLst>
              <a:ext uri="{FF2B5EF4-FFF2-40B4-BE49-F238E27FC236}">
                <a16:creationId xmlns:a16="http://schemas.microsoft.com/office/drawing/2014/main" id="{272EB03E-2302-7763-AB29-DECD3B335D21}"/>
              </a:ext>
            </a:extLst>
          </p:cNvPr>
          <p:cNvSpPr txBox="1"/>
          <p:nvPr/>
        </p:nvSpPr>
        <p:spPr>
          <a:xfrm>
            <a:off x="9372945" y="5850447"/>
            <a:ext cx="3249402" cy="2516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s-MX" sz="2800" b="1" dirty="0">
                <a:solidFill>
                  <a:schemeClr val="bg1"/>
                </a:solidFill>
              </a:rPr>
              <a:t>Módulo Trazabilidad:</a:t>
            </a:r>
            <a:r>
              <a:rPr lang="es-MX" sz="2800" dirty="0">
                <a:solidFill>
                  <a:schemeClr val="bg1"/>
                </a:solidFill>
              </a:rPr>
              <a:t> Visualización de la trazabilidad de cada equipo para poder hacer una auditoria de forma personalizada.</a:t>
            </a:r>
            <a:endParaRPr lang="en-US" sz="2800" dirty="0">
              <a:solidFill>
                <a:schemeClr val="bg1"/>
              </a:solidFill>
              <a:latin typeface="Mero Thai"/>
              <a:ea typeface="Mero Thai"/>
              <a:cs typeface="Mero Thai"/>
              <a:sym typeface="Mero Thai"/>
            </a:endParaRPr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BBB1922A-8823-8DD2-488A-2F45C70119DC}"/>
              </a:ext>
            </a:extLst>
          </p:cNvPr>
          <p:cNvSpPr txBox="1"/>
          <p:nvPr/>
        </p:nvSpPr>
        <p:spPr>
          <a:xfrm>
            <a:off x="13742911" y="5848468"/>
            <a:ext cx="3249402" cy="179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"/>
              </a:lnSpc>
            </a:pPr>
            <a:r>
              <a:rPr lang="es-MX" sz="2800" b="1" dirty="0">
                <a:solidFill>
                  <a:schemeClr val="bg1"/>
                </a:solidFill>
              </a:rPr>
              <a:t>Módulo Reportería:</a:t>
            </a:r>
            <a:r>
              <a:rPr lang="es-MX" sz="2800" dirty="0">
                <a:solidFill>
                  <a:schemeClr val="bg1"/>
                </a:solidFill>
              </a:rPr>
              <a:t> Resumen general de parque activo, disponibles y dados de baja.</a:t>
            </a:r>
            <a:endParaRPr lang="en-US" sz="2800" dirty="0">
              <a:solidFill>
                <a:schemeClr val="bg1"/>
              </a:solidFill>
              <a:latin typeface="Mero Thai"/>
              <a:ea typeface="Mero Thai"/>
              <a:cs typeface="Mero Thai"/>
              <a:sym typeface="Mero Tha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930967"/>
            <a:ext cx="16230600" cy="114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5"/>
              </a:lnSpc>
            </a:pPr>
            <a:r>
              <a:rPr lang="es-MX" sz="7200" dirty="0"/>
              <a:t>Competencias Integradas</a:t>
            </a:r>
            <a:endParaRPr lang="en-US" sz="6889" dirty="0">
              <a:solidFill>
                <a:srgbClr val="34495E"/>
              </a:solidFill>
              <a:latin typeface="Sunborn"/>
              <a:ea typeface="Sunborn"/>
              <a:cs typeface="Sunborn"/>
              <a:sym typeface="Sunborn"/>
            </a:endParaRPr>
          </a:p>
        </p:txBody>
      </p:sp>
      <p:sp>
        <p:nvSpPr>
          <p:cNvPr id="5" name="Freeform 5"/>
          <p:cNvSpPr/>
          <p:nvPr/>
        </p:nvSpPr>
        <p:spPr>
          <a:xfrm rot="-1252176">
            <a:off x="9584539" y="4752881"/>
            <a:ext cx="7315200" cy="2114758"/>
          </a:xfrm>
          <a:custGeom>
            <a:avLst/>
            <a:gdLst/>
            <a:ahLst/>
            <a:cxnLst/>
            <a:rect l="l" t="t" r="r" b="b"/>
            <a:pathLst>
              <a:path w="7315200" h="2114758">
                <a:moveTo>
                  <a:pt x="0" y="0"/>
                </a:moveTo>
                <a:lnTo>
                  <a:pt x="7315200" y="0"/>
                </a:lnTo>
                <a:lnTo>
                  <a:pt x="7315200" y="2114758"/>
                </a:lnTo>
                <a:lnTo>
                  <a:pt x="0" y="2114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03D0944-7028-522D-AA04-6E53E4708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86100"/>
            <a:ext cx="7968661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Gestión de Proyectos TI: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Planificación, estimación de tiempos y gestión del alcance bajo estándar académico.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Bases de Datos Relacionales: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Diseños de modelos de datos escalables y consistentes para soportar el historial.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Desarrollo e Integración Web: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Construcción de interfaz de usuario y desarrollo de lógica de negocio/</a:t>
            </a:r>
            <a:r>
              <a:rPr kumimoji="0" lang="es-CL" altLang="es-CL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APIs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Seguridad en Sistemas:</a:t>
            </a:r>
            <a:r>
              <a:rPr kumimoji="0" lang="es-CL" altLang="es-CL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Control de accesos, encriptación y protección de datos internos de la organización.</a:t>
            </a:r>
            <a:endParaRPr kumimoji="0" lang="es-CL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419679"/>
              </p:ext>
            </p:extLst>
          </p:nvPr>
        </p:nvGraphicFramePr>
        <p:xfrm>
          <a:off x="1028700" y="4039840"/>
          <a:ext cx="15049500" cy="4942546"/>
        </p:xfrm>
        <a:graphic>
          <a:graphicData uri="http://schemas.openxmlformats.org/drawingml/2006/table">
            <a:tbl>
              <a:tblPr/>
              <a:tblGrid>
                <a:gridCol w="793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7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1644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dirty="0" err="1">
                          <a:solidFill>
                            <a:srgbClr val="34495E"/>
                          </a:solidFill>
                          <a:latin typeface="Mero Thai Bold"/>
                          <a:ea typeface="Mero Thai Bold"/>
                          <a:cs typeface="Mero Thai Bold"/>
                          <a:sym typeface="Mero Thai Bold"/>
                        </a:rPr>
                        <a:t>Fases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1" dirty="0">
                          <a:solidFill>
                            <a:srgbClr val="34495E"/>
                          </a:solidFill>
                          <a:latin typeface="Mero Thai Bold"/>
                          <a:ea typeface="Mero Thai Bold"/>
                          <a:cs typeface="Mero Thai Bold"/>
                          <a:sym typeface="Mero Thai Bold"/>
                        </a:rPr>
                        <a:t>Desarrollo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634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s-CL" sz="2400" dirty="0">
                          <a:solidFill>
                            <a:schemeClr val="bg1"/>
                          </a:solidFill>
                        </a:rPr>
                        <a:t>Fase 1 (S1-S3):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s-MX" sz="2400" dirty="0">
                          <a:solidFill>
                            <a:schemeClr val="bg1"/>
                          </a:solidFill>
                        </a:rPr>
                        <a:t>Levantamiento, diseño de arquitectura y mockups.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3634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s-CL" sz="2400" dirty="0">
                          <a:solidFill>
                            <a:schemeClr val="bg1"/>
                          </a:solidFill>
                        </a:rPr>
                        <a:t>Fase 2 (S4-S14)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s-MX" sz="2400" dirty="0">
                          <a:solidFill>
                            <a:schemeClr val="bg1"/>
                          </a:solidFill>
                        </a:rPr>
                        <a:t>Desarrollo </a:t>
                      </a:r>
                      <a:r>
                        <a:rPr lang="es-MX" sz="2400" dirty="0" err="1">
                          <a:solidFill>
                            <a:schemeClr val="bg1"/>
                          </a:solidFill>
                        </a:rPr>
                        <a:t>backend</a:t>
                      </a:r>
                      <a:r>
                        <a:rPr lang="es-MX" sz="24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es-MX" sz="2400" dirty="0" err="1">
                          <a:solidFill>
                            <a:schemeClr val="bg1"/>
                          </a:solidFill>
                        </a:rPr>
                        <a:t>frontend</a:t>
                      </a:r>
                      <a:r>
                        <a:rPr lang="es-MX" sz="2400" dirty="0">
                          <a:solidFill>
                            <a:schemeClr val="bg1"/>
                          </a:solidFill>
                        </a:rPr>
                        <a:t>, base de datos e integración.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3634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s-CL" sz="2400" dirty="0">
                          <a:solidFill>
                            <a:schemeClr val="bg1"/>
                          </a:solidFill>
                        </a:rPr>
                        <a:t>Fase 3 (S15-S18)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s-MX" sz="2400" dirty="0">
                          <a:solidFill>
                            <a:schemeClr val="bg1"/>
                          </a:solidFill>
                        </a:rPr>
                        <a:t>Pruebas integrales, ajustes de seguridad y entrega final.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533400" y="952500"/>
            <a:ext cx="17487900" cy="2075160"/>
            <a:chOff x="0" y="-133349"/>
            <a:chExt cx="23317200" cy="2766879"/>
          </a:xfrm>
        </p:grpSpPr>
        <p:sp>
          <p:nvSpPr>
            <p:cNvPr id="4" name="TextBox 4"/>
            <p:cNvSpPr txBox="1"/>
            <p:nvPr/>
          </p:nvSpPr>
          <p:spPr>
            <a:xfrm>
              <a:off x="0" y="-133349"/>
              <a:ext cx="21640800" cy="1544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45"/>
                </a:lnSpc>
              </a:pPr>
              <a:r>
                <a:rPr lang="es-CL" sz="7200" dirty="0"/>
                <a:t>Planificación y Factibilidad</a:t>
              </a:r>
              <a:endParaRPr lang="en-US" sz="6889" dirty="0">
                <a:solidFill>
                  <a:srgbClr val="34495E"/>
                </a:solidFill>
                <a:latin typeface="Sunborn"/>
                <a:ea typeface="Sunborn"/>
                <a:cs typeface="Sunborn"/>
                <a:sym typeface="Sunborn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356257"/>
              <a:ext cx="23317200" cy="12772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007"/>
                </a:lnSpc>
              </a:pPr>
              <a:r>
                <a:rPr lang="es-MX" sz="2800" b="1" dirty="0"/>
                <a:t>Factibilidad técnica:</a:t>
              </a:r>
              <a:r>
                <a:rPr lang="es-MX" sz="2800" dirty="0"/>
                <a:t> Basado en tecnologías web estándares de código abierto e integración de versionado con GitHub.</a:t>
              </a:r>
              <a:endParaRPr lang="en-US" sz="2800" dirty="0">
                <a:solidFill>
                  <a:srgbClr val="5A99D1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82619"/>
            <a:ext cx="16230600" cy="7253485"/>
            <a:chOff x="0" y="0"/>
            <a:chExt cx="4274726" cy="19103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910383"/>
            </a:xfrm>
            <a:custGeom>
              <a:avLst/>
              <a:gdLst/>
              <a:ahLst/>
              <a:cxnLst/>
              <a:rect l="l" t="t" r="r" b="b"/>
              <a:pathLst>
                <a:path w="4274726" h="191038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86056"/>
                  </a:lnTo>
                  <a:cubicBezTo>
                    <a:pt x="4274726" y="1899491"/>
                    <a:pt x="4263834" y="1910383"/>
                    <a:pt x="4250399" y="1910383"/>
                  </a:cubicBezTo>
                  <a:lnTo>
                    <a:pt x="24327" y="1910383"/>
                  </a:lnTo>
                  <a:cubicBezTo>
                    <a:pt x="10891" y="1910383"/>
                    <a:pt x="0" y="1899491"/>
                    <a:pt x="0" y="188605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2DFF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274726" cy="1986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75117" y="2718138"/>
            <a:ext cx="14260814" cy="2887540"/>
            <a:chOff x="0" y="0"/>
            <a:chExt cx="19014419" cy="3850053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0"/>
              <a:ext cx="19014419" cy="2220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688"/>
                </a:lnSpc>
              </a:pPr>
              <a:r>
                <a:rPr lang="en-US" sz="9063" b="1">
                  <a:solidFill>
                    <a:srgbClr val="FFFFFF"/>
                  </a:solidFill>
                  <a:latin typeface="Mero Thai Bold"/>
                  <a:ea typeface="Mero Thai Bold"/>
                  <a:cs typeface="Mero Thai Bold"/>
                  <a:sym typeface="Mero Thai Bold"/>
                </a:rPr>
                <a:t>Muchas gracias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90398"/>
              <a:ext cx="19014419" cy="2059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848"/>
                </a:lnSpc>
              </a:pPr>
              <a:r>
                <a:rPr lang="en-US" sz="8463">
                  <a:solidFill>
                    <a:srgbClr val="5A99D1"/>
                  </a:solidFill>
                  <a:latin typeface="Mero Thai"/>
                  <a:ea typeface="Mero Thai"/>
                  <a:cs typeface="Mero Thai"/>
                  <a:sym typeface="Mero Thai"/>
                </a:rPr>
                <a:t>por su atención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19265" y="543748"/>
            <a:ext cx="7972519" cy="1277740"/>
            <a:chOff x="0" y="0"/>
            <a:chExt cx="2099758" cy="3365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9758" cy="336524"/>
            </a:xfrm>
            <a:custGeom>
              <a:avLst/>
              <a:gdLst/>
              <a:ahLst/>
              <a:cxnLst/>
              <a:rect l="l" t="t" r="r" b="b"/>
              <a:pathLst>
                <a:path w="2099758" h="336524">
                  <a:moveTo>
                    <a:pt x="49525" y="0"/>
                  </a:moveTo>
                  <a:lnTo>
                    <a:pt x="2050233" y="0"/>
                  </a:lnTo>
                  <a:cubicBezTo>
                    <a:pt x="2077585" y="0"/>
                    <a:pt x="2099758" y="22173"/>
                    <a:pt x="2099758" y="49525"/>
                  </a:cubicBezTo>
                  <a:lnTo>
                    <a:pt x="2099758" y="286999"/>
                  </a:lnTo>
                  <a:cubicBezTo>
                    <a:pt x="2099758" y="300134"/>
                    <a:pt x="2094540" y="312731"/>
                    <a:pt x="2085253" y="322019"/>
                  </a:cubicBezTo>
                  <a:cubicBezTo>
                    <a:pt x="2075965" y="331306"/>
                    <a:pt x="2063368" y="336524"/>
                    <a:pt x="2050233" y="336524"/>
                  </a:cubicBezTo>
                  <a:lnTo>
                    <a:pt x="49525" y="336524"/>
                  </a:lnTo>
                  <a:cubicBezTo>
                    <a:pt x="22173" y="336524"/>
                    <a:pt x="0" y="314351"/>
                    <a:pt x="0" y="286999"/>
                  </a:cubicBezTo>
                  <a:lnTo>
                    <a:pt x="0" y="49525"/>
                  </a:lnTo>
                  <a:cubicBezTo>
                    <a:pt x="0" y="36390"/>
                    <a:pt x="5218" y="23793"/>
                    <a:pt x="14505" y="14505"/>
                  </a:cubicBezTo>
                  <a:cubicBezTo>
                    <a:pt x="23793" y="5218"/>
                    <a:pt x="36390" y="0"/>
                    <a:pt x="49525" y="0"/>
                  </a:cubicBezTo>
                  <a:close/>
                </a:path>
              </a:pathLst>
            </a:custGeom>
            <a:solidFill>
              <a:srgbClr val="2C537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2099758" cy="479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endParaRPr lang="en-US" sz="3399" dirty="0">
                <a:solidFill>
                  <a:srgbClr val="FFFFFF"/>
                </a:solidFill>
                <a:latin typeface="Mero Thai"/>
                <a:ea typeface="Mero Thai"/>
                <a:cs typeface="Mero Thai"/>
                <a:sym typeface="Mero Thai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 rot="858640">
            <a:off x="555278" y="4635179"/>
            <a:ext cx="1941095" cy="1941095"/>
          </a:xfrm>
          <a:custGeom>
            <a:avLst/>
            <a:gdLst/>
            <a:ahLst/>
            <a:cxnLst/>
            <a:rect l="l" t="t" r="r" b="b"/>
            <a:pathLst>
              <a:path w="1941095" h="1941095">
                <a:moveTo>
                  <a:pt x="0" y="0"/>
                </a:moveTo>
                <a:lnTo>
                  <a:pt x="1941095" y="0"/>
                </a:lnTo>
                <a:lnTo>
                  <a:pt x="1941095" y="1941096"/>
                </a:lnTo>
                <a:lnTo>
                  <a:pt x="0" y="1941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1054662">
            <a:off x="15788250" y="741973"/>
            <a:ext cx="1827080" cy="2159031"/>
          </a:xfrm>
          <a:custGeom>
            <a:avLst/>
            <a:gdLst/>
            <a:ahLst/>
            <a:cxnLst/>
            <a:rect l="l" t="t" r="r" b="b"/>
            <a:pathLst>
              <a:path w="1827080" h="2159031">
                <a:moveTo>
                  <a:pt x="0" y="0"/>
                </a:moveTo>
                <a:lnTo>
                  <a:pt x="1827080" y="0"/>
                </a:lnTo>
                <a:lnTo>
                  <a:pt x="1827080" y="2159031"/>
                </a:lnTo>
                <a:lnTo>
                  <a:pt x="0" y="2159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783140">
            <a:off x="14984998" y="4821242"/>
            <a:ext cx="3433584" cy="1922807"/>
          </a:xfrm>
          <a:custGeom>
            <a:avLst/>
            <a:gdLst/>
            <a:ahLst/>
            <a:cxnLst/>
            <a:rect l="l" t="t" r="r" b="b"/>
            <a:pathLst>
              <a:path w="3433584" h="1922807">
                <a:moveTo>
                  <a:pt x="0" y="0"/>
                </a:moveTo>
                <a:lnTo>
                  <a:pt x="3433584" y="0"/>
                </a:lnTo>
                <a:lnTo>
                  <a:pt x="3433584" y="1922807"/>
                </a:lnTo>
                <a:lnTo>
                  <a:pt x="0" y="1922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9825452">
            <a:off x="-322218" y="259244"/>
            <a:ext cx="2234009" cy="3124489"/>
          </a:xfrm>
          <a:custGeom>
            <a:avLst/>
            <a:gdLst/>
            <a:ahLst/>
            <a:cxnLst/>
            <a:rect l="l" t="t" r="r" b="b"/>
            <a:pathLst>
              <a:path w="2234009" h="3124489">
                <a:moveTo>
                  <a:pt x="0" y="0"/>
                </a:moveTo>
                <a:lnTo>
                  <a:pt x="2234009" y="0"/>
                </a:lnTo>
                <a:lnTo>
                  <a:pt x="2234009" y="3124489"/>
                </a:lnTo>
                <a:lnTo>
                  <a:pt x="0" y="31244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403</Words>
  <Application>Microsoft Office PowerPoint</Application>
  <PresentationFormat>Personalizado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Mero Thai</vt:lpstr>
      <vt:lpstr>Google Sans Text</vt:lpstr>
      <vt:lpstr>Mero Thai Bold</vt:lpstr>
      <vt:lpstr>Open Sans</vt:lpstr>
      <vt:lpstr>Arial</vt:lpstr>
      <vt:lpstr>Arial Black</vt:lpstr>
      <vt:lpstr>Sunborn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Consejos Tecnología Informática Sencilla Azul</dc:title>
  <cp:lastModifiedBy>emmanuel parada carvajal</cp:lastModifiedBy>
  <cp:revision>3</cp:revision>
  <dcterms:created xsi:type="dcterms:W3CDTF">2006-08-16T00:00:00Z</dcterms:created>
  <dcterms:modified xsi:type="dcterms:W3CDTF">2026-09-12T13:09:27Z</dcterms:modified>
  <dc:identifier>DAHU_GkSQbY</dc:identifier>
</cp:coreProperties>
</file>